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D9CFB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Home</c:v>
                  </c:pt>
                  <c:pt idx="1">
                    <c:v>Category</c:v>
                  </c:pt>
                  <c:pt idx="2">
                    <c:v>Product</c:v>
                  </c:pt>
                  <c:pt idx="3">
                    <c:v>Cart</c:v>
                  </c:pt>
                  <c:pt idx="4">
                    <c:v>Checkout</c:v>
                  </c:pt>
                  <c:pt idx="5">
                    <c:v>Confirm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2.5</c:v>
                </c:pt>
                <c:pt idx="1">
                  <c:v>2.5</c:v>
                </c:pt>
                <c:pt idx="2">
                  <c:v>2.5</c:v>
                </c:pt>
                <c:pt idx="3">
                  <c:v>2.5</c:v>
                </c:pt>
                <c:pt idx="4">
                  <c:v>2.5</c:v>
                </c:pt>
                <c:pt idx="5">
                  <c:v>2.5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Measured</c:v>
                </c:pt>
              </c:strCache>
            </c:strRef>
          </c:tx>
          <c:spPr>
            <a:solidFill>
              <a:srgbClr val="B5482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Home</c:v>
                  </c:pt>
                  <c:pt idx="1">
                    <c:v>Category</c:v>
                  </c:pt>
                  <c:pt idx="2">
                    <c:v>Product</c:v>
                  </c:pt>
                  <c:pt idx="3">
                    <c:v>Cart</c:v>
                  </c:pt>
                  <c:pt idx="4">
                    <c:v>Checkout</c:v>
                  </c:pt>
                  <c:pt idx="5">
                    <c:v>Confirm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1.9</c:v>
                </c:pt>
                <c:pt idx="1">
                  <c:v>2.1</c:v>
                </c:pt>
                <c:pt idx="2">
                  <c:v>2.3</c:v>
                </c:pt>
                <c:pt idx="3">
                  <c:v>2.2</c:v>
                </c:pt>
                <c:pt idx="4">
                  <c:v>2.9</c:v>
                </c:pt>
                <c:pt idx="5">
                  <c:v>1.8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A4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1D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C5A4E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C5A4E"/>
                    </a:solidFill>
                    <a:latin typeface="Arial"/>
                  </a:rPr>
                  <a:t>seconds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A4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C5A4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Pass Rate</c:v>
                </c:pt>
              </c:strCache>
            </c:strRef>
          </c:tx>
          <c:spPr>
            <a:solidFill>
              <a:srgbClr val="B5482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B2B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Functional</c:v>
                  </c:pt>
                  <c:pt idx="1">
                    <c:v>Payment</c:v>
                  </c:pt>
                  <c:pt idx="2">
                    <c:v>Inventory</c:v>
                  </c:pt>
                  <c:pt idx="3">
                    <c:v>Usability</c:v>
                  </c:pt>
                  <c:pt idx="4">
                    <c:v>Performance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96</c:v>
                </c:pt>
                <c:pt idx="1">
                  <c:v>92</c:v>
                </c:pt>
                <c:pt idx="2">
                  <c:v>94</c:v>
                </c:pt>
                <c:pt idx="3">
                  <c:v>89</c:v>
                </c:pt>
                <c:pt idx="4">
                  <c:v>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B2B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C5A4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E5E1D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A4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B2B26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B5482F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3291840"/>
            <a:ext cx="3657600" cy="3657600"/>
          </a:xfrm>
          <a:prstGeom prst="ellipse">
            <a:avLst/>
          </a:prstGeom>
          <a:solidFill>
            <a:srgbClr val="D9CFBA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640080"/>
            <a:ext cx="10515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</p:spPr>
      </p:sp>
      <p:pic>
        <p:nvPicPr>
          <p:cNvPr id="6" name="Image 0" descr="/home/claude/work/ppt_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758952"/>
            <a:ext cx="813816" cy="8138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57400" y="7772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D9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057400" y="11430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and Engineering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" y="23317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B54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Presentation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274320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Junior Web Developer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822960" y="35204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D9CFB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Apparel &amp; Textiles E-Commerce Platform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822960" y="4709160"/>
            <a:ext cx="0" cy="1051560"/>
          </a:xfrm>
          <a:prstGeom prst="line">
            <a:avLst/>
          </a:prstGeom>
          <a:noFill/>
          <a:ln w="12700">
            <a:solidFill>
              <a:srgbClr val="4A473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87552" y="47091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8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987552" y="50292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Prabhat Nath Goswami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3429000" y="4709160"/>
            <a:ext cx="0" cy="1051560"/>
          </a:xfrm>
          <a:prstGeom prst="line">
            <a:avLst/>
          </a:prstGeom>
          <a:noFill/>
          <a:ln w="12700">
            <a:solidFill>
              <a:srgbClr val="4A473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593592" y="47091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8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NO.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593592" y="50292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2410030811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6035040" y="4709160"/>
            <a:ext cx="0" cy="1051560"/>
          </a:xfrm>
          <a:prstGeom prst="line">
            <a:avLst/>
          </a:prstGeom>
          <a:noFill/>
          <a:ln w="12700">
            <a:solidFill>
              <a:srgbClr val="4A473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99632" y="47091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8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&amp; SEMESTER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199632" y="50292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— 5th Semester</a:t>
            </a:r>
            <a:endParaRPr lang="en-US" sz="1450" dirty="0"/>
          </a:p>
        </p:txBody>
      </p:sp>
      <p:sp>
        <p:nvSpPr>
          <p:cNvPr id="21" name="Shape 18"/>
          <p:cNvSpPr/>
          <p:nvPr/>
        </p:nvSpPr>
        <p:spPr>
          <a:xfrm>
            <a:off x="8641080" y="4709160"/>
            <a:ext cx="0" cy="1051560"/>
          </a:xfrm>
          <a:prstGeom prst="line">
            <a:avLst/>
          </a:prstGeom>
          <a:noFill/>
          <a:ln w="12700">
            <a:solidFill>
              <a:srgbClr val="4A473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805672" y="47091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8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8805672" y="50292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YuvaIntern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822960" y="6080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August 2026 – 07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E9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77240" y="1234440"/>
            <a:ext cx="548640" cy="54864"/>
          </a:xfrm>
          <a:prstGeom prst="rect">
            <a:avLst/>
          </a:prstGeom>
          <a:solidFill>
            <a:srgbClr val="B5482F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508760"/>
            <a:ext cx="5212080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755648"/>
            <a:ext cx="493776" cy="493776"/>
          </a:xfrm>
          <a:prstGeom prst="ellipse">
            <a:avLst/>
          </a:prstGeom>
          <a:solidFill>
            <a:srgbClr val="B5482F"/>
          </a:solidFill>
          <a:ln/>
        </p:spPr>
      </p:sp>
      <p:pic>
        <p:nvPicPr>
          <p:cNvPr id="6" name="Image 0" descr="/home/claude/work/ppt_build/icon_buil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626" y="1874154"/>
            <a:ext cx="256764" cy="2567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554480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9B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600200" y="1508760"/>
            <a:ext cx="42062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YuvaIntern &amp; the Internship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309360" y="1508760"/>
            <a:ext cx="5212080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1755648"/>
            <a:ext cx="493776" cy="493776"/>
          </a:xfrm>
          <a:prstGeom prst="ellipse">
            <a:avLst/>
          </a:prstGeom>
          <a:solidFill>
            <a:srgbClr val="B5482F"/>
          </a:solidFill>
          <a:ln/>
        </p:spPr>
      </p:sp>
      <p:pic>
        <p:nvPicPr>
          <p:cNvPr id="11" name="Image 1" descr="/home/claude/work/ppt_build/icon_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746" y="1874154"/>
            <a:ext cx="256764" cy="2567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92240" y="1554480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9B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7132320" y="1508760"/>
            <a:ext cx="42062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Project Scope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777240" y="2697480"/>
            <a:ext cx="5212080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0120" y="2944368"/>
            <a:ext cx="493776" cy="493776"/>
          </a:xfrm>
          <a:prstGeom prst="ellipse">
            <a:avLst/>
          </a:prstGeom>
          <a:solidFill>
            <a:srgbClr val="B5482F"/>
          </a:solidFill>
          <a:ln/>
        </p:spPr>
      </p:sp>
      <p:pic>
        <p:nvPicPr>
          <p:cNvPr id="16" name="Image 2" descr="/home/claude/work/ppt_build/icon_clip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626" y="3062874"/>
            <a:ext cx="256764" cy="2567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60120" y="2743200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9B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1600200" y="2697480"/>
            <a:ext cx="42062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— Planning &amp; Strategy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309360" y="2697480"/>
            <a:ext cx="5212080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2240" y="2944368"/>
            <a:ext cx="493776" cy="493776"/>
          </a:xfrm>
          <a:prstGeom prst="ellipse">
            <a:avLst/>
          </a:prstGeom>
          <a:solidFill>
            <a:srgbClr val="B5482F"/>
          </a:solidFill>
          <a:ln/>
        </p:spPr>
      </p:sp>
      <p:pic>
        <p:nvPicPr>
          <p:cNvPr id="21" name="Image 3" descr="/home/claude/work/ppt_build/icon_palet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0746" y="3062874"/>
            <a:ext cx="256764" cy="2567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492240" y="2743200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9B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7132320" y="2697480"/>
            <a:ext cx="42062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— UX &amp; Design System</a:t>
            </a:r>
            <a:endParaRPr lang="en-US" sz="1350" dirty="0"/>
          </a:p>
        </p:txBody>
      </p:sp>
      <p:sp>
        <p:nvSpPr>
          <p:cNvPr id="24" name="Shape 18"/>
          <p:cNvSpPr/>
          <p:nvPr/>
        </p:nvSpPr>
        <p:spPr>
          <a:xfrm>
            <a:off x="777240" y="3886200"/>
            <a:ext cx="5212080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960120" y="4133088"/>
            <a:ext cx="493776" cy="493776"/>
          </a:xfrm>
          <a:prstGeom prst="ellipse">
            <a:avLst/>
          </a:prstGeom>
          <a:solidFill>
            <a:srgbClr val="B5482F"/>
          </a:solidFill>
          <a:ln/>
        </p:spPr>
      </p:sp>
      <p:pic>
        <p:nvPicPr>
          <p:cNvPr id="26" name="Image 4" descr="/home/claude/work/ppt_build/icon_serv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626" y="4251594"/>
            <a:ext cx="256764" cy="25676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60120" y="3931920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9B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28" name="Text 21"/>
          <p:cNvSpPr/>
          <p:nvPr/>
        </p:nvSpPr>
        <p:spPr>
          <a:xfrm>
            <a:off x="1600200" y="3886200"/>
            <a:ext cx="42062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— Architecture &amp; APIs</a:t>
            </a:r>
            <a:endParaRPr lang="en-US" sz="1350" dirty="0"/>
          </a:p>
        </p:txBody>
      </p:sp>
      <p:sp>
        <p:nvSpPr>
          <p:cNvPr id="29" name="Shape 22"/>
          <p:cNvSpPr/>
          <p:nvPr/>
        </p:nvSpPr>
        <p:spPr>
          <a:xfrm>
            <a:off x="6309360" y="3886200"/>
            <a:ext cx="5212080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492240" y="4133088"/>
            <a:ext cx="493776" cy="493776"/>
          </a:xfrm>
          <a:prstGeom prst="ellipse">
            <a:avLst/>
          </a:prstGeom>
          <a:solidFill>
            <a:srgbClr val="B5482F"/>
          </a:solidFill>
          <a:ln/>
        </p:spPr>
      </p:sp>
      <p:pic>
        <p:nvPicPr>
          <p:cNvPr id="31" name="Image 5" descr="/home/claude/work/ppt_build/icon_bu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0746" y="4251594"/>
            <a:ext cx="256764" cy="25676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492240" y="3931920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9B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33" name="Text 25"/>
          <p:cNvSpPr/>
          <p:nvPr/>
        </p:nvSpPr>
        <p:spPr>
          <a:xfrm>
            <a:off x="7132320" y="3886200"/>
            <a:ext cx="42062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— Testing &amp; Results</a:t>
            </a:r>
            <a:endParaRPr lang="en-US" sz="1350" dirty="0"/>
          </a:p>
        </p:txBody>
      </p:sp>
      <p:sp>
        <p:nvSpPr>
          <p:cNvPr id="34" name="Shape 26"/>
          <p:cNvSpPr/>
          <p:nvPr/>
        </p:nvSpPr>
        <p:spPr>
          <a:xfrm>
            <a:off x="777240" y="5074920"/>
            <a:ext cx="5212080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960120" y="5321808"/>
            <a:ext cx="493776" cy="493776"/>
          </a:xfrm>
          <a:prstGeom prst="ellipse">
            <a:avLst/>
          </a:prstGeom>
          <a:solidFill>
            <a:srgbClr val="B5482F"/>
          </a:solidFill>
          <a:ln/>
        </p:spPr>
      </p:sp>
      <p:pic>
        <p:nvPicPr>
          <p:cNvPr id="36" name="Image 6" descr="/home/claude/work/ppt_build/icon_lightbulb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8626" y="5440314"/>
            <a:ext cx="256764" cy="25676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960120" y="5120640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9B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38" name="Text 29"/>
          <p:cNvSpPr/>
          <p:nvPr/>
        </p:nvSpPr>
        <p:spPr>
          <a:xfrm>
            <a:off x="1600200" y="5074920"/>
            <a:ext cx="42062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</a:t>
            </a:r>
            <a:endParaRPr lang="en-US" sz="1350" dirty="0"/>
          </a:p>
        </p:txBody>
      </p:sp>
      <p:sp>
        <p:nvSpPr>
          <p:cNvPr id="39" name="Shape 30"/>
          <p:cNvSpPr/>
          <p:nvPr/>
        </p:nvSpPr>
        <p:spPr>
          <a:xfrm>
            <a:off x="6309360" y="5074920"/>
            <a:ext cx="5212080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6492240" y="5321808"/>
            <a:ext cx="493776" cy="493776"/>
          </a:xfrm>
          <a:prstGeom prst="ellipse">
            <a:avLst/>
          </a:prstGeom>
          <a:solidFill>
            <a:srgbClr val="B5482F"/>
          </a:solidFill>
          <a:ln/>
        </p:spPr>
      </p:sp>
      <p:pic>
        <p:nvPicPr>
          <p:cNvPr id="41" name="Image 7" descr="/home/claude/work/ppt_build/icon_cer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0746" y="5440314"/>
            <a:ext cx="256764" cy="256764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6492240" y="5120640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9B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43" name="Text 33"/>
          <p:cNvSpPr/>
          <p:nvPr/>
        </p:nvSpPr>
        <p:spPr>
          <a:xfrm>
            <a:off x="7132320" y="5074920"/>
            <a:ext cx="42062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Certificate</a:t>
            </a:r>
            <a:endParaRPr lang="en-US" sz="1350" dirty="0"/>
          </a:p>
        </p:txBody>
      </p:sp>
      <p:sp>
        <p:nvSpPr>
          <p:cNvPr id="44" name="Text 34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45" name="Text 3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9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YuvaIntern — Junior Web Developer, Apparel &amp; Textiles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B2B26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4114800" cy="4114800"/>
          </a:xfrm>
          <a:prstGeom prst="ellipse">
            <a:avLst/>
          </a:prstGeom>
          <a:solidFill>
            <a:srgbClr val="B5482F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486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54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3291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Organization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9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YuvaIntern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663440" y="685800"/>
            <a:ext cx="68580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B54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YuvaIntern 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skill-development and virtual internship platform, working in association with the 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Skill Development Corporation (NSDC)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that gives students structured, project-based internship experience across web development, design, marketing, and data.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63440" y="2514600"/>
            <a:ext cx="502920" cy="502920"/>
          </a:xfrm>
          <a:prstGeom prst="ellipse">
            <a:avLst/>
          </a:prstGeom>
          <a:solidFill>
            <a:srgbClr val="B5482F"/>
          </a:solidFill>
          <a:ln/>
        </p:spPr>
      </p:sp>
      <p:pic>
        <p:nvPicPr>
          <p:cNvPr id="9" name="Image 0" descr="/home/claude/work/ppt_build/icon_c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84141" y="2635301"/>
            <a:ext cx="261518" cy="26151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349240" y="2487168"/>
            <a:ext cx="6126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Real-world, industry-styled tasks that simulate a professional team environment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663440" y="3291840"/>
            <a:ext cx="502920" cy="502920"/>
          </a:xfrm>
          <a:prstGeom prst="ellipse">
            <a:avLst/>
          </a:prstGeom>
          <a:solidFill>
            <a:srgbClr val="B5482F"/>
          </a:solidFill>
          <a:ln/>
        </p:spPr>
      </p:sp>
      <p:pic>
        <p:nvPicPr>
          <p:cNvPr id="12" name="Image 1" descr="/home/claude/work/ppt_build/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4141" y="3412541"/>
            <a:ext cx="261518" cy="26151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49240" y="3264408"/>
            <a:ext cx="6126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milestones with mentor review and structured feedback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4663440" y="4069080"/>
            <a:ext cx="502920" cy="502920"/>
          </a:xfrm>
          <a:prstGeom prst="ellipse">
            <a:avLst/>
          </a:prstGeom>
          <a:solidFill>
            <a:srgbClr val="B5482F"/>
          </a:solidFill>
          <a:ln/>
        </p:spPr>
      </p:sp>
      <p:pic>
        <p:nvPicPr>
          <p:cNvPr id="15" name="Image 2" descr="/home/claude/work/ppt_build/icon_ce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4141" y="4189781"/>
            <a:ext cx="261518" cy="26151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349240" y="4041648"/>
            <a:ext cx="6126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of Experience issued on successful completion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4663440" y="5074920"/>
            <a:ext cx="6858000" cy="1234440"/>
          </a:xfrm>
          <a:prstGeom prst="roundRect">
            <a:avLst>
              <a:gd name="adj" fmla="val 5926"/>
            </a:avLst>
          </a:prstGeom>
          <a:solidFill>
            <a:srgbClr val="EFE9DD"/>
          </a:solidFill>
          <a:ln/>
        </p:spPr>
      </p:sp>
      <p:sp>
        <p:nvSpPr>
          <p:cNvPr id="18" name="Text 13"/>
          <p:cNvSpPr/>
          <p:nvPr/>
        </p:nvSpPr>
        <p:spPr>
          <a:xfrm>
            <a:off x="4983480" y="5193792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“Throughout the tenure of this internship, Prabhat demonstrated consistent dedication, professionalism, and a strong willingness to learn and grow.”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4983480" y="598932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54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Certificate of Experience, YuvaIntern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E9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at a Glance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77240" y="1234440"/>
            <a:ext cx="548640" cy="54864"/>
          </a:xfrm>
          <a:prstGeom prst="rect">
            <a:avLst/>
          </a:prstGeom>
          <a:solidFill>
            <a:srgbClr val="B5482F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69164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89280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08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05840" y="228600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Junior Web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2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Developer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611880" y="169164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840480" y="189280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08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40480" y="228600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Apparel &amp;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2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Textiles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446520" y="169164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B5482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75120" y="189280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9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675120" y="228600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Weeks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281160" y="169164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509760" y="189280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08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509760" y="228600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YuvaIntern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777240" y="38862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August 2026  →  07 September 2026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80160" y="452628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C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internship was structured as a four-week, project-based programme: planning an e-commerce concept for the apparel &amp; textiles industry, designing its front-end UX, planning its back-end architecture, and validating it through structured testing.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9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YuvaIntern — Junior Web Developer, Apparel &amp; Textiles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77240" y="1234440"/>
            <a:ext cx="548640" cy="54864"/>
          </a:xfrm>
          <a:prstGeom prst="rect">
            <a:avLst/>
          </a:prstGeom>
          <a:solidFill>
            <a:srgbClr val="B5482F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60020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EFE9DD"/>
          </a:solidFill>
          <a:ln/>
        </p:spPr>
      </p:sp>
      <p:sp>
        <p:nvSpPr>
          <p:cNvPr id="5" name="Shape 3"/>
          <p:cNvSpPr/>
          <p:nvPr/>
        </p:nvSpPr>
        <p:spPr>
          <a:xfrm>
            <a:off x="1033272" y="1856232"/>
            <a:ext cx="566928" cy="566928"/>
          </a:xfrm>
          <a:prstGeom prst="ellipse">
            <a:avLst/>
          </a:prstGeom>
          <a:solidFill>
            <a:srgbClr val="B5482F"/>
          </a:solidFill>
          <a:ln/>
        </p:spPr>
      </p:sp>
      <p:pic>
        <p:nvPicPr>
          <p:cNvPr id="6" name="Image 0" descr="/home/claude/work/ppt_build/icon_c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9335" y="1992295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33272" y="2560320"/>
            <a:ext cx="291693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responsive, visually appealing apparel &amp; textiles e-commerce site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462272" y="160020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EFE9DD"/>
          </a:solidFill>
          <a:ln/>
        </p:spPr>
      </p:sp>
      <p:sp>
        <p:nvSpPr>
          <p:cNvPr id="9" name="Shape 6"/>
          <p:cNvSpPr/>
          <p:nvPr/>
        </p:nvSpPr>
        <p:spPr>
          <a:xfrm>
            <a:off x="4718304" y="1856232"/>
            <a:ext cx="566928" cy="566928"/>
          </a:xfrm>
          <a:prstGeom prst="ellipse">
            <a:avLst/>
          </a:prstGeom>
          <a:solidFill>
            <a:srgbClr val="B5482F"/>
          </a:solidFill>
          <a:ln/>
        </p:spPr>
      </p:sp>
      <p:pic>
        <p:nvPicPr>
          <p:cNvPr id="10" name="Image 1" descr="/home/claude/work/ppt_build/icon_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4367" y="1992295"/>
            <a:ext cx="294803" cy="29480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18304" y="2560320"/>
            <a:ext cx="291693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an intuitive shopping experience — clear categorisation, search &amp; filtering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147304" y="160020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EFE9DD"/>
          </a:solidFill>
          <a:ln/>
        </p:spPr>
      </p:sp>
      <p:sp>
        <p:nvSpPr>
          <p:cNvPr id="13" name="Shape 9"/>
          <p:cNvSpPr/>
          <p:nvPr/>
        </p:nvSpPr>
        <p:spPr>
          <a:xfrm>
            <a:off x="8403336" y="1856232"/>
            <a:ext cx="566928" cy="566928"/>
          </a:xfrm>
          <a:prstGeom prst="ellipse">
            <a:avLst/>
          </a:prstGeom>
          <a:solidFill>
            <a:srgbClr val="B5482F"/>
          </a:solidFill>
          <a:ln/>
        </p:spPr>
      </p:sp>
      <p:pic>
        <p:nvPicPr>
          <p:cNvPr id="14" name="Image 2" descr="/home/claude/work/ppt_build/icon_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9399" y="1992295"/>
            <a:ext cx="294803" cy="29480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403336" y="2560320"/>
            <a:ext cx="291693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secure cart, checkout, and payment-gateway functionality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777240" y="3822192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EFE9DD"/>
          </a:solidFill>
          <a:ln/>
        </p:spPr>
      </p:sp>
      <p:sp>
        <p:nvSpPr>
          <p:cNvPr id="17" name="Shape 12"/>
          <p:cNvSpPr/>
          <p:nvPr/>
        </p:nvSpPr>
        <p:spPr>
          <a:xfrm>
            <a:off x="1033272" y="4078224"/>
            <a:ext cx="566928" cy="566928"/>
          </a:xfrm>
          <a:prstGeom prst="ellipse">
            <a:avLst/>
          </a:prstGeom>
          <a:solidFill>
            <a:srgbClr val="B5482F"/>
          </a:solidFill>
          <a:ln/>
        </p:spPr>
      </p:sp>
      <p:pic>
        <p:nvPicPr>
          <p:cNvPr id="18" name="Image 3" descr="/home/claude/work/ppt_build/icon_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9335" y="4214287"/>
            <a:ext cx="294803" cy="29480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33272" y="4782312"/>
            <a:ext cx="291693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real-time inventory tracking to prevent overselling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4462272" y="3822192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EFE9DD"/>
          </a:solidFill>
          <a:ln/>
        </p:spPr>
      </p:sp>
      <p:sp>
        <p:nvSpPr>
          <p:cNvPr id="21" name="Shape 15"/>
          <p:cNvSpPr/>
          <p:nvPr/>
        </p:nvSpPr>
        <p:spPr>
          <a:xfrm>
            <a:off x="4718304" y="4078224"/>
            <a:ext cx="566928" cy="566928"/>
          </a:xfrm>
          <a:prstGeom prst="ellipse">
            <a:avLst/>
          </a:prstGeom>
          <a:solidFill>
            <a:srgbClr val="B5482F"/>
          </a:solidFill>
          <a:ln/>
        </p:spPr>
      </p:sp>
      <p:pic>
        <p:nvPicPr>
          <p:cNvPr id="22" name="Image 4" descr="/home/claude/work/ppt_build/icon_mobi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4367" y="4214287"/>
            <a:ext cx="294803" cy="294803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718304" y="4782312"/>
            <a:ext cx="291693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the platform mobile-first, for the majority-mobile shopper base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8147304" y="3822192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EFE9DD"/>
          </a:solidFill>
          <a:ln/>
        </p:spPr>
      </p:sp>
      <p:sp>
        <p:nvSpPr>
          <p:cNvPr id="25" name="Shape 18"/>
          <p:cNvSpPr/>
          <p:nvPr/>
        </p:nvSpPr>
        <p:spPr>
          <a:xfrm>
            <a:off x="8403336" y="4078224"/>
            <a:ext cx="566928" cy="566928"/>
          </a:xfrm>
          <a:prstGeom prst="ellipse">
            <a:avLst/>
          </a:prstGeom>
          <a:solidFill>
            <a:srgbClr val="B5482F"/>
          </a:solidFill>
          <a:ln/>
        </p:spPr>
      </p:sp>
      <p:pic>
        <p:nvPicPr>
          <p:cNvPr id="26" name="Image 5" descr="/home/claude/work/ppt_build/icon_layer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9399" y="4214287"/>
            <a:ext cx="294803" cy="294803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403336" y="4782312"/>
            <a:ext cx="291693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a scalable technical foundation for future growth</a:t>
            </a:r>
            <a:endParaRPr lang="en-US" sz="1250" dirty="0"/>
          </a:p>
        </p:txBody>
      </p:sp>
      <p:sp>
        <p:nvSpPr>
          <p:cNvPr id="28" name="Text 20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9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YuvaIntern — Junior Web Developer, Apparel &amp; Textiles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E9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54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Planning &amp; Strategy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" y="1463040"/>
            <a:ext cx="548640" cy="54864"/>
          </a:xfrm>
          <a:prstGeom prst="rect">
            <a:avLst/>
          </a:prstGeom>
          <a:solidFill>
            <a:srgbClr val="B5482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91640"/>
            <a:ext cx="5669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C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project goals, target audience, and website scope; produced a 4-week roadmap, resource plan, and risk-mitigation strategy grounded in competitor research.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77240" y="2743200"/>
            <a:ext cx="868680" cy="502920"/>
          </a:xfrm>
          <a:prstGeom prst="roundRect">
            <a:avLst>
              <a:gd name="adj" fmla="val 12727"/>
            </a:avLst>
          </a:prstGeom>
          <a:solidFill>
            <a:srgbClr val="B5482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74320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783080" y="274320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gathering &amp; planning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3346704"/>
            <a:ext cx="868680" cy="502920"/>
          </a:xfrm>
          <a:prstGeom prst="roundRect">
            <a:avLst>
              <a:gd name="adj" fmla="val 12727"/>
            </a:avLst>
          </a:prstGeom>
          <a:solidFill>
            <a:srgbClr val="D9CFB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346704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783080" y="3346704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Wireframing &amp; UI/UX design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77240" y="3950208"/>
            <a:ext cx="868680" cy="502920"/>
          </a:xfrm>
          <a:prstGeom prst="roundRect">
            <a:avLst>
              <a:gd name="adj" fmla="val 12727"/>
            </a:avLst>
          </a:prstGeom>
          <a:solidFill>
            <a:srgbClr val="D9CFBA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950208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783080" y="395020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build &amp; responsive coding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77240" y="4553712"/>
            <a:ext cx="868680" cy="502920"/>
          </a:xfrm>
          <a:prstGeom prst="roundRect">
            <a:avLst>
              <a:gd name="adj" fmla="val 12727"/>
            </a:avLst>
          </a:prstGeom>
          <a:solidFill>
            <a:srgbClr val="D9CFBA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553712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783080" y="455371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optimisation &amp; final review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766560" y="1691640"/>
            <a:ext cx="466344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086600" y="19202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Competitive Analysis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086600" y="24231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4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Myntra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086600" y="26974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Huge catalogue, fast checkout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086600" y="295351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Keep filters, simplify layout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086600" y="34747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4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Zara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086600" y="37490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minimal UI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086600" y="400507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Adopt minimal aesthetic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086600" y="45262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4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Fabindia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086600" y="48006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fabric storytelling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086600" y="50566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Add product storytelling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9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YuvaIntern — Junior Web Developer, Apparel &amp; Textiles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54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UX Strategy &amp; Visual Design System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" y="1463040"/>
            <a:ext cx="548640" cy="54864"/>
          </a:xfrm>
          <a:prstGeom prst="rect">
            <a:avLst/>
          </a:prstGeom>
          <a:solidFill>
            <a:srgbClr val="B5482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91640"/>
            <a:ext cx="5394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C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calm, image-led, mobile-first design: a shallow site architecture (≤ 3 clicks to any page), a persistent PDP template, and generous product information to reduce sizing anxiety.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77240" y="2880360"/>
            <a:ext cx="5394960" cy="502920"/>
          </a:xfrm>
          <a:prstGeom prst="roundRect">
            <a:avLst>
              <a:gd name="adj" fmla="val 50909"/>
            </a:avLst>
          </a:prstGeom>
          <a:solidFill>
            <a:srgbClr val="D9CFBA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88036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/ Search / Lookbook / Account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0" y="33375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54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3538728"/>
            <a:ext cx="5394960" cy="502920"/>
          </a:xfrm>
          <a:prstGeom prst="roundRect">
            <a:avLst>
              <a:gd name="adj" fmla="val 50909"/>
            </a:avLst>
          </a:prstGeom>
          <a:solidFill>
            <a:srgbClr val="EFE9DD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53872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Detail Page (PDP)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0" y="39959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54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7240" y="4197096"/>
            <a:ext cx="5394960" cy="502920"/>
          </a:xfrm>
          <a:prstGeom prst="roundRect">
            <a:avLst>
              <a:gd name="adj" fmla="val 50909"/>
            </a:avLst>
          </a:prstGeom>
          <a:solidFill>
            <a:srgbClr val="D9CFBA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4197096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Bag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465429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54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77240" y="4855464"/>
            <a:ext cx="5394960" cy="502920"/>
          </a:xfrm>
          <a:prstGeom prst="roundRect">
            <a:avLst>
              <a:gd name="adj" fmla="val 50909"/>
            </a:avLst>
          </a:prstGeom>
          <a:solidFill>
            <a:srgbClr val="EFE9DD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855464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Streamlined Checkout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83680" y="1691640"/>
            <a:ext cx="4846320" cy="4572000"/>
          </a:xfrm>
          <a:prstGeom prst="roundRect">
            <a:avLst>
              <a:gd name="adj" fmla="val 2000"/>
            </a:avLst>
          </a:prstGeom>
          <a:solidFill>
            <a:srgbClr val="2B2B26"/>
          </a:solidFill>
          <a:ln/>
        </p:spPr>
      </p:sp>
      <p:sp>
        <p:nvSpPr>
          <p:cNvPr id="18" name="Text 16"/>
          <p:cNvSpPr/>
          <p:nvPr/>
        </p:nvSpPr>
        <p:spPr>
          <a:xfrm>
            <a:off x="6903720" y="19202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 Design System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0372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D9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Palette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903720" y="2743200"/>
            <a:ext cx="960120" cy="960120"/>
          </a:xfrm>
          <a:prstGeom prst="roundRect">
            <a:avLst>
              <a:gd name="adj" fmla="val 9524"/>
            </a:avLst>
          </a:prstGeom>
          <a:solidFill>
            <a:srgbClr val="2B2B26"/>
          </a:solidFill>
          <a:ln w="12700">
            <a:solidFill>
              <a:srgbClr val="4A47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374904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982712" y="2743200"/>
            <a:ext cx="960120" cy="960120"/>
          </a:xfrm>
          <a:prstGeom prst="roundRect">
            <a:avLst>
              <a:gd name="adj" fmla="val 9524"/>
            </a:avLst>
          </a:prstGeom>
          <a:solidFill>
            <a:srgbClr val="EFE9DD"/>
          </a:solidFill>
          <a:ln w="12700">
            <a:solidFill>
              <a:srgbClr val="4A47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91272" y="374904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061704" y="2743200"/>
            <a:ext cx="960120" cy="960120"/>
          </a:xfrm>
          <a:prstGeom prst="roundRect">
            <a:avLst>
              <a:gd name="adj" fmla="val 9524"/>
            </a:avLst>
          </a:prstGeom>
          <a:solidFill>
            <a:srgbClr val="D9CFBA"/>
          </a:solidFill>
          <a:ln w="12700">
            <a:solidFill>
              <a:srgbClr val="4A47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70264" y="374904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0140696" y="2743200"/>
            <a:ext cx="960120" cy="960120"/>
          </a:xfrm>
          <a:prstGeom prst="roundRect">
            <a:avLst>
              <a:gd name="adj" fmla="val 9524"/>
            </a:avLst>
          </a:prstGeom>
          <a:solidFill>
            <a:srgbClr val="B5482F"/>
          </a:solidFill>
          <a:ln w="12700">
            <a:solidFill>
              <a:srgbClr val="4A47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49256" y="374904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Accent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903720" y="4251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D9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903720" y="452628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C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grotesque sans-serif throughout, with weight and size — not extra typefaces — creating hierarchy. Body copy: 15–16px / 1.5 line-height.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903720" y="548640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54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responsive breakpoints: &lt;600px · 600–1024px · &gt;1024px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9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YuvaIntern — Junior Web Developer, Apparel &amp; Textiles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E9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54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Back-End 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" y="1463040"/>
            <a:ext cx="548640" cy="54864"/>
          </a:xfrm>
          <a:prstGeom prst="rect">
            <a:avLst/>
          </a:prstGeom>
          <a:solidFill>
            <a:srgbClr val="B5482F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83080"/>
            <a:ext cx="10607040" cy="749808"/>
          </a:xfrm>
          <a:prstGeom prst="roundRect">
            <a:avLst>
              <a:gd name="adj" fmla="val 9756"/>
            </a:avLst>
          </a:prstGeom>
          <a:solidFill>
            <a:srgbClr val="2B2B26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783080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Layer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40480" y="1783080"/>
            <a:ext cx="7360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storefront &amp; mobile app over a versioned REST/JSON API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2651760"/>
            <a:ext cx="10607040" cy="749808"/>
          </a:xfrm>
          <a:prstGeom prst="roundRect">
            <a:avLst>
              <a:gd name="adj" fmla="val 9756"/>
            </a:avLst>
          </a:prstGeom>
          <a:solidFill>
            <a:srgbClr val="3D3B32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651760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Gateway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40480" y="2651760"/>
            <a:ext cx="7360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(Express) — routing, auth, validation, rate limiting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3520440"/>
            <a:ext cx="10607040" cy="749808"/>
          </a:xfrm>
          <a:prstGeom prst="roundRect">
            <a:avLst>
              <a:gd name="adj" fmla="val 9756"/>
            </a:avLst>
          </a:prstGeom>
          <a:solidFill>
            <a:srgbClr val="544F42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520440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Domain Modules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40480" y="3520440"/>
            <a:ext cx="7360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· Inventory · Cart &amp; Checkout · Orders · Users · Payments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" y="4389120"/>
            <a:ext cx="10607040" cy="749808"/>
          </a:xfrm>
          <a:prstGeom prst="roundRect">
            <a:avLst>
              <a:gd name="adj" fmla="val 9756"/>
            </a:avLst>
          </a:prstGeom>
          <a:solidFill>
            <a:srgbClr val="6B6553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389120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Layer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40480" y="4389120"/>
            <a:ext cx="7360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Adapters for payment gateway, ERP/inventory, shipping carriers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" y="5257800"/>
            <a:ext cx="10607040" cy="749808"/>
          </a:xfrm>
          <a:prstGeom prst="roundRect">
            <a:avLst>
              <a:gd name="adj" fmla="val 9756"/>
            </a:avLst>
          </a:prstGeom>
          <a:solidFill>
            <a:srgbClr val="B5482F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5257800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Async Layer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40480" y="5257800"/>
            <a:ext cx="7360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Redis · S3 storage · message queue for background work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9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YuvaIntern — Junior Web Developer, Apparel &amp; Textiles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54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 &amp; API Integration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" y="1463040"/>
            <a:ext cx="548640" cy="54864"/>
          </a:xfrm>
          <a:prstGeom prst="rect">
            <a:avLst/>
          </a:prstGeom>
          <a:solidFill>
            <a:srgbClr val="B5482F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3736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EFE9DD"/>
          </a:solidFill>
          <a:ln/>
        </p:spPr>
      </p:sp>
      <p:sp>
        <p:nvSpPr>
          <p:cNvPr id="6" name="Shape 4"/>
          <p:cNvSpPr/>
          <p:nvPr/>
        </p:nvSpPr>
        <p:spPr>
          <a:xfrm>
            <a:off x="978408" y="1938528"/>
            <a:ext cx="457200" cy="457200"/>
          </a:xfrm>
          <a:prstGeom prst="ellipse">
            <a:avLst/>
          </a:prstGeom>
          <a:solidFill>
            <a:srgbClr val="B5482F"/>
          </a:solidFill>
          <a:ln/>
        </p:spPr>
      </p:sp>
      <p:pic>
        <p:nvPicPr>
          <p:cNvPr id="7" name="Image 0" descr="/home/claude/work/ppt_build/icon_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2048256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81912" y="190195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78408" y="2514600"/>
            <a:ext cx="30266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API-heavy, high-concurrency runtime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462272" y="173736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EFE9DD"/>
          </a:solidFill>
          <a:ln/>
        </p:spPr>
      </p:sp>
      <p:sp>
        <p:nvSpPr>
          <p:cNvPr id="11" name="Shape 8"/>
          <p:cNvSpPr/>
          <p:nvPr/>
        </p:nvSpPr>
        <p:spPr>
          <a:xfrm>
            <a:off x="4663440" y="1938528"/>
            <a:ext cx="457200" cy="457200"/>
          </a:xfrm>
          <a:prstGeom prst="ellipse">
            <a:avLst/>
          </a:prstGeom>
          <a:solidFill>
            <a:srgbClr val="B5482F"/>
          </a:solidFill>
          <a:ln/>
        </p:spPr>
      </p:sp>
      <p:pic>
        <p:nvPicPr>
          <p:cNvPr id="12" name="Image 1" descr="/home/claude/work/ppt_build/icon_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2048256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66944" y="190195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Redis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663440" y="2514600"/>
            <a:ext cx="30266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orders, sub-ms caching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147304" y="173736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EFE9DD"/>
          </a:solidFill>
          <a:ln/>
        </p:spPr>
      </p:sp>
      <p:sp>
        <p:nvSpPr>
          <p:cNvPr id="16" name="Shape 12"/>
          <p:cNvSpPr/>
          <p:nvPr/>
        </p:nvSpPr>
        <p:spPr>
          <a:xfrm>
            <a:off x="8348472" y="1938528"/>
            <a:ext cx="457200" cy="457200"/>
          </a:xfrm>
          <a:prstGeom prst="ellipse">
            <a:avLst/>
          </a:prstGeom>
          <a:solidFill>
            <a:srgbClr val="B5482F"/>
          </a:solidFill>
          <a:ln/>
        </p:spPr>
      </p:sp>
      <p:pic>
        <p:nvPicPr>
          <p:cNvPr id="17" name="Image 2" descr="/home/claude/work/ppt_build/icon_se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2048256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951976" y="190195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8348472" y="2514600"/>
            <a:ext cx="30266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Faceted search by size / colour / fabric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777240" y="3355848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EFE9DD"/>
          </a:solidFill>
          <a:ln/>
        </p:spPr>
      </p:sp>
      <p:sp>
        <p:nvSpPr>
          <p:cNvPr id="21" name="Shape 16"/>
          <p:cNvSpPr/>
          <p:nvPr/>
        </p:nvSpPr>
        <p:spPr>
          <a:xfrm>
            <a:off x="978408" y="3557016"/>
            <a:ext cx="457200" cy="457200"/>
          </a:xfrm>
          <a:prstGeom prst="ellipse">
            <a:avLst/>
          </a:prstGeom>
          <a:solidFill>
            <a:srgbClr val="B5482F"/>
          </a:solidFill>
          <a:ln/>
        </p:spPr>
      </p:sp>
      <p:pic>
        <p:nvPicPr>
          <p:cNvPr id="22" name="Image 3" descr="/home/claude/work/ppt_build/icon_clou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36" y="3666744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81912" y="3520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+ CDN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978408" y="4133088"/>
            <a:ext cx="30266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imagery at scale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462272" y="3355848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EFE9DD"/>
          </a:solidFill>
          <a:ln/>
        </p:spPr>
      </p:sp>
      <p:sp>
        <p:nvSpPr>
          <p:cNvPr id="26" name="Shape 20"/>
          <p:cNvSpPr/>
          <p:nvPr/>
        </p:nvSpPr>
        <p:spPr>
          <a:xfrm>
            <a:off x="4663440" y="3557016"/>
            <a:ext cx="457200" cy="457200"/>
          </a:xfrm>
          <a:prstGeom prst="ellipse">
            <a:avLst/>
          </a:prstGeom>
          <a:solidFill>
            <a:srgbClr val="B5482F"/>
          </a:solidFill>
          <a:ln/>
        </p:spPr>
      </p:sp>
      <p:pic>
        <p:nvPicPr>
          <p:cNvPr id="27" name="Image 4" descr="/home/claude/work/ppt_build/icon_plu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168" y="3666744"/>
            <a:ext cx="237744" cy="23774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266944" y="3520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4663440" y="4133088"/>
            <a:ext cx="30266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Decouples ERP sync, email, webhooks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8147304" y="3355848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EFE9DD"/>
          </a:solidFill>
          <a:ln/>
        </p:spPr>
      </p:sp>
      <p:sp>
        <p:nvSpPr>
          <p:cNvPr id="31" name="Shape 24"/>
          <p:cNvSpPr/>
          <p:nvPr/>
        </p:nvSpPr>
        <p:spPr>
          <a:xfrm>
            <a:off x="8348472" y="3557016"/>
            <a:ext cx="457200" cy="457200"/>
          </a:xfrm>
          <a:prstGeom prst="ellipse">
            <a:avLst/>
          </a:prstGeom>
          <a:solidFill>
            <a:srgbClr val="B5482F"/>
          </a:solidFill>
          <a:ln/>
        </p:spPr>
      </p:sp>
      <p:pic>
        <p:nvPicPr>
          <p:cNvPr id="32" name="Image 5" descr="/home/claude/work/ppt_build/icon_shie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8200" y="3666744"/>
            <a:ext cx="237744" cy="23774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951976" y="3520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OAuth2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8348472" y="4133088"/>
            <a:ext cx="30266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Stateless, horizontally-scalable auth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777240" y="5257800"/>
            <a:ext cx="10607040" cy="1051560"/>
          </a:xfrm>
          <a:prstGeom prst="roundRect">
            <a:avLst>
              <a:gd name="adj" fmla="val 8696"/>
            </a:avLst>
          </a:prstGeom>
          <a:solidFill>
            <a:srgbClr val="2B2B26"/>
          </a:solidFill>
          <a:ln/>
        </p:spPr>
      </p:sp>
      <p:sp>
        <p:nvSpPr>
          <p:cNvPr id="36" name="Text 28"/>
          <p:cNvSpPr/>
          <p:nvPr/>
        </p:nvSpPr>
        <p:spPr>
          <a:xfrm>
            <a:off x="1051560" y="5257800"/>
            <a:ext cx="1828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54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Flow:</a:t>
            </a:r>
            <a:endParaRPr lang="en-US" sz="1250" dirty="0"/>
          </a:p>
        </p:txBody>
      </p:sp>
      <p:sp>
        <p:nvSpPr>
          <p:cNvPr id="37" name="Text 29"/>
          <p:cNvSpPr/>
          <p:nvPr/>
        </p:nvSpPr>
        <p:spPr>
          <a:xfrm>
            <a:off x="2743200" y="5257800"/>
            <a:ext cx="8412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→ API Gateway → Inventory check → Payment intent → Gateway webhook → Async worker confirms order &amp; releases inventory</a:t>
            </a:r>
            <a:endParaRPr lang="en-US" sz="1200" dirty="0"/>
          </a:p>
        </p:txBody>
      </p:sp>
      <p:sp>
        <p:nvSpPr>
          <p:cNvPr id="38" name="Text 30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39" name="Text 3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9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YuvaIntern — Junior Web Developer, Apparel &amp; Textiles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E9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54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Performance Framework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" y="1463040"/>
            <a:ext cx="548640" cy="54864"/>
          </a:xfrm>
          <a:prstGeom prst="rect">
            <a:avLst/>
          </a:prstGeom>
          <a:solidFill>
            <a:srgbClr val="B5482F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83080"/>
            <a:ext cx="34290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33272" y="2039112"/>
            <a:ext cx="548640" cy="548640"/>
          </a:xfrm>
          <a:prstGeom prst="ellipse">
            <a:avLst/>
          </a:prstGeom>
          <a:solidFill>
            <a:srgbClr val="B5482F"/>
          </a:solidFill>
          <a:ln/>
        </p:spPr>
      </p:sp>
      <p:sp>
        <p:nvSpPr>
          <p:cNvPr id="7" name="Text 5"/>
          <p:cNvSpPr/>
          <p:nvPr/>
        </p:nvSpPr>
        <p:spPr>
          <a:xfrm>
            <a:off x="1033272" y="20391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33272" y="2715768"/>
            <a:ext cx="2916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Testing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033272" y="3081528"/>
            <a:ext cx="29169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/ Mocha on core logic (pricing, stock rules) — ≥ 80% coverage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62272" y="1783080"/>
            <a:ext cx="34290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18304" y="2039112"/>
            <a:ext cx="548640" cy="548640"/>
          </a:xfrm>
          <a:prstGeom prst="ellipse">
            <a:avLst/>
          </a:prstGeom>
          <a:solidFill>
            <a:srgbClr val="B5482F"/>
          </a:solidFill>
          <a:ln/>
        </p:spPr>
      </p:sp>
      <p:sp>
        <p:nvSpPr>
          <p:cNvPr id="12" name="Text 10"/>
          <p:cNvSpPr/>
          <p:nvPr/>
        </p:nvSpPr>
        <p:spPr>
          <a:xfrm>
            <a:off x="4718304" y="20391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718304" y="2715768"/>
            <a:ext cx="2916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Testing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718304" y="3081528"/>
            <a:ext cx="29169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Supertest / Postman against staging, incl. sandboxed payment &amp; ERP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47304" y="1783080"/>
            <a:ext cx="34290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03336" y="2039112"/>
            <a:ext cx="548640" cy="548640"/>
          </a:xfrm>
          <a:prstGeom prst="ellipse">
            <a:avLst/>
          </a:prstGeom>
          <a:solidFill>
            <a:srgbClr val="B5482F"/>
          </a:solidFill>
          <a:ln/>
        </p:spPr>
      </p:sp>
      <p:sp>
        <p:nvSpPr>
          <p:cNvPr id="17" name="Text 15"/>
          <p:cNvSpPr/>
          <p:nvPr/>
        </p:nvSpPr>
        <p:spPr>
          <a:xfrm>
            <a:off x="8403336" y="20391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403336" y="2715768"/>
            <a:ext cx="2916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Acceptance Testing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403336" y="3081528"/>
            <a:ext cx="29169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+ exploratory, end-to-end browse → checkout → return journeys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406908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test scenarios: mobile browsing under average network · saved-address checkout · last-unit concurrency · declined-payment retry · size-exchange returns · flash-sale load spikes (10x concurrency)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77240" y="5074920"/>
            <a:ext cx="10607040" cy="0"/>
          </a:xfrm>
          <a:prstGeom prst="line">
            <a:avLst/>
          </a:prstGeom>
          <a:noFill/>
          <a:ln w="12700">
            <a:solidFill>
              <a:srgbClr val="C9C2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2578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B54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Targets: ≥ 95% usability task success · SUS score ≥ 75 · p95 API response ≤ 400ms · LCP ≤ 2.5s · checkout success ≥ 99%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9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YuvaIntern — Junior Web Developer, Apparel &amp; Textiles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54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Staging Results Against Benchmarks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" y="1463040"/>
            <a:ext cx="548640" cy="54864"/>
          </a:xfrm>
          <a:prstGeom prst="rect">
            <a:avLst/>
          </a:prstGeom>
          <a:solidFill>
            <a:srgbClr val="B5482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916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Load Time (LCP, seconds)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2011680"/>
          <a:ext cx="53949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217920" y="16916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Pass Rate by Category (%)</a:t>
            </a:r>
            <a:endParaRPr lang="en-US" sz="13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6080760" y="2011680"/>
          <a:ext cx="53949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777240" y="5074920"/>
            <a:ext cx="10607040" cy="1143000"/>
          </a:xfrm>
          <a:prstGeom prst="roundRect">
            <a:avLst>
              <a:gd name="adj" fmla="val 7200"/>
            </a:avLst>
          </a:prstGeom>
          <a:solidFill>
            <a:srgbClr val="EFE9DD"/>
          </a:solidFill>
          <a:ln/>
        </p:spPr>
      </p:sp>
      <p:sp>
        <p:nvSpPr>
          <p:cNvPr id="10" name="Text 6"/>
          <p:cNvSpPr/>
          <p:nvPr/>
        </p:nvSpPr>
        <p:spPr>
          <a:xfrm>
            <a:off x="1051560" y="521208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B54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flows pass at 96%; usability (89%) and peak-load performance (90%) fall just short of the 95% release threshold — addressable via targeted, low-risk fixes (async checkout calls, inventory-check caching, clearer size-guide placement) rather than architectural rework.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9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YuvaIntern — Junior Web Developer, Apparel &amp; Textiles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FE9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Learnings &amp; Skills Gained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77240" y="1234440"/>
            <a:ext cx="548640" cy="54864"/>
          </a:xfrm>
          <a:prstGeom prst="rect">
            <a:avLst/>
          </a:prstGeom>
          <a:solidFill>
            <a:srgbClr val="B5482F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60020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14984" y="1837944"/>
            <a:ext cx="530352" cy="530352"/>
          </a:xfrm>
          <a:prstGeom prst="ellipse">
            <a:avLst/>
          </a:prstGeom>
          <a:solidFill>
            <a:srgbClr val="B5482F"/>
          </a:solidFill>
          <a:ln/>
        </p:spPr>
      </p:sp>
      <p:pic>
        <p:nvPicPr>
          <p:cNvPr id="6" name="Image 0" descr="/home/claude/work/ppt_build/icon_clip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2268" y="1965228"/>
            <a:ext cx="275783" cy="2757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14984" y="2496312"/>
            <a:ext cx="2953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Planning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14984" y="2807208"/>
            <a:ext cx="2953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Translating business goals into scoped, milestone-driven technical requirements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462272" y="160020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0016" y="1837944"/>
            <a:ext cx="530352" cy="530352"/>
          </a:xfrm>
          <a:prstGeom prst="ellipse">
            <a:avLst/>
          </a:prstGeom>
          <a:solidFill>
            <a:srgbClr val="B5482F"/>
          </a:solidFill>
          <a:ln/>
        </p:spPr>
      </p:sp>
      <p:pic>
        <p:nvPicPr>
          <p:cNvPr id="11" name="Image 1" descr="/home/claude/work/ppt_build/icon_palet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7300" y="1965228"/>
            <a:ext cx="275783" cy="27578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0016" y="2496312"/>
            <a:ext cx="2953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UX &amp; Responsive Design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700016" y="2807208"/>
            <a:ext cx="2953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wireframing, visual systems, and iterative usability testing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47304" y="160020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85048" y="1837944"/>
            <a:ext cx="530352" cy="530352"/>
          </a:xfrm>
          <a:prstGeom prst="ellipse">
            <a:avLst/>
          </a:prstGeom>
          <a:solidFill>
            <a:srgbClr val="B5482F"/>
          </a:solidFill>
          <a:ln/>
        </p:spPr>
      </p:sp>
      <p:pic>
        <p:nvPicPr>
          <p:cNvPr id="16" name="Image 2" descr="/home/claude/work/ppt_build/icon_serv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2332" y="1965228"/>
            <a:ext cx="275783" cy="27578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85048" y="2496312"/>
            <a:ext cx="2953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Back-End Architecture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385048" y="2807208"/>
            <a:ext cx="2953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Service-oriented design, database schema modelling, and API planning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777240" y="3822192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14984" y="4059936"/>
            <a:ext cx="530352" cy="530352"/>
          </a:xfrm>
          <a:prstGeom prst="ellipse">
            <a:avLst/>
          </a:prstGeom>
          <a:solidFill>
            <a:srgbClr val="B5482F"/>
          </a:solidFill>
          <a:ln/>
        </p:spPr>
      </p:sp>
      <p:pic>
        <p:nvPicPr>
          <p:cNvPr id="21" name="Image 3" descr="/home/claude/work/ppt_build/icon_plu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268" y="4187220"/>
            <a:ext cx="275783" cy="27578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14984" y="4718304"/>
            <a:ext cx="2953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Third-Party Integration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014984" y="5029200"/>
            <a:ext cx="2953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gateways, ERP/inventory sync, and asynchronous processing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462272" y="3822192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700016" y="4059936"/>
            <a:ext cx="530352" cy="530352"/>
          </a:xfrm>
          <a:prstGeom prst="ellipse">
            <a:avLst/>
          </a:prstGeom>
          <a:solidFill>
            <a:srgbClr val="B5482F"/>
          </a:solidFill>
          <a:ln/>
        </p:spPr>
      </p:sp>
      <p:pic>
        <p:nvPicPr>
          <p:cNvPr id="26" name="Image 4" descr="/home/claude/work/ppt_build/icon_bu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7300" y="4187220"/>
            <a:ext cx="275783" cy="27578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700016" y="4718304"/>
            <a:ext cx="2953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Testing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700016" y="5029200"/>
            <a:ext cx="2953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Multi-level test planning and benchmarking against real performance metrics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47304" y="3822192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85048" y="4059936"/>
            <a:ext cx="530352" cy="530352"/>
          </a:xfrm>
          <a:prstGeom prst="ellipse">
            <a:avLst/>
          </a:prstGeom>
          <a:solidFill>
            <a:srgbClr val="B5482F"/>
          </a:solidFill>
          <a:ln/>
        </p:spPr>
      </p:sp>
      <p:pic>
        <p:nvPicPr>
          <p:cNvPr id="31" name="Image 5" descr="/home/claude/work/ppt_build/icon_char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2332" y="4187220"/>
            <a:ext cx="275783" cy="27578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85048" y="4718304"/>
            <a:ext cx="2953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Evidence-Based Iteration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385048" y="5029200"/>
            <a:ext cx="2953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test results and translating findings into prioritised fixes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9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YuvaIntern — Junior Web Developer, Apparel &amp; Textiles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480560" cy="6858000"/>
          </a:xfrm>
          <a:prstGeom prst="rect">
            <a:avLst/>
          </a:prstGeom>
          <a:solidFill>
            <a:srgbClr val="2B2B26"/>
          </a:solidFill>
          <a:ln/>
        </p:spPr>
      </p:sp>
      <p:pic>
        <p:nvPicPr>
          <p:cNvPr id="4" name="Image 0" descr="/home/claude/work/ppt_build/cer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71600"/>
            <a:ext cx="3108960" cy="4389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234440"/>
            <a:ext cx="3383280" cy="4663440"/>
          </a:xfrm>
          <a:prstGeom prst="roundRect">
            <a:avLst>
              <a:gd name="adj" fmla="val 1622"/>
            </a:avLst>
          </a:prstGeom>
          <a:ln w="19050">
            <a:solidFill>
              <a:srgbClr val="B5482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92040" y="685800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4937760" y="1371600"/>
            <a:ext cx="548640" cy="54864"/>
          </a:xfrm>
          <a:prstGeom prst="rect">
            <a:avLst/>
          </a:prstGeom>
          <a:solidFill>
            <a:srgbClr val="B5482F"/>
          </a:solidFill>
          <a:ln/>
        </p:spPr>
      </p:sp>
      <p:sp>
        <p:nvSpPr>
          <p:cNvPr id="8" name="Text 5"/>
          <p:cNvSpPr/>
          <p:nvPr/>
        </p:nvSpPr>
        <p:spPr>
          <a:xfrm>
            <a:off x="4892040" y="1691640"/>
            <a:ext cx="6675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C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internship translated a real apparel &amp; textiles e-commerce brief into a validated, end-to-end technical plan — spanning strategy, UX, architecture, and structured testing.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892040" y="2798064"/>
            <a:ext cx="109728" cy="109728"/>
          </a:xfrm>
          <a:prstGeom prst="ellipse">
            <a:avLst/>
          </a:prstGeom>
          <a:solidFill>
            <a:srgbClr val="B5482F"/>
          </a:solidFill>
          <a:ln/>
        </p:spPr>
      </p:sp>
      <p:sp>
        <p:nvSpPr>
          <p:cNvPr id="10" name="Text 7"/>
          <p:cNvSpPr/>
          <p:nvPr/>
        </p:nvSpPr>
        <p:spPr>
          <a:xfrm>
            <a:off x="5166360" y="265176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shallow, mobile-first site architecture backed by a restrained, textile-appropriate design system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892040" y="3511296"/>
            <a:ext cx="109728" cy="109728"/>
          </a:xfrm>
          <a:prstGeom prst="ellipse">
            <a:avLst/>
          </a:prstGeom>
          <a:solidFill>
            <a:srgbClr val="B5482F"/>
          </a:solidFill>
          <a:ln/>
        </p:spPr>
      </p:sp>
      <p:sp>
        <p:nvSpPr>
          <p:cNvPr id="12" name="Text 9"/>
          <p:cNvSpPr/>
          <p:nvPr/>
        </p:nvSpPr>
        <p:spPr>
          <a:xfrm>
            <a:off x="5166360" y="3364992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scalable, service-oriented back end with clear integration boundaries for payments, ERP, and shipping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892040" y="4224528"/>
            <a:ext cx="109728" cy="109728"/>
          </a:xfrm>
          <a:prstGeom prst="ellipse">
            <a:avLst/>
          </a:prstGeom>
          <a:solidFill>
            <a:srgbClr val="B5482F"/>
          </a:solidFill>
          <a:ln/>
        </p:spPr>
      </p:sp>
      <p:sp>
        <p:nvSpPr>
          <p:cNvPr id="14" name="Text 11"/>
          <p:cNvSpPr/>
          <p:nvPr/>
        </p:nvSpPr>
        <p:spPr>
          <a:xfrm>
            <a:off x="5166360" y="4078224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structured, benchmark-driven testing framework, with 96% functional pass rate at staging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892040" y="4937760"/>
            <a:ext cx="109728" cy="109728"/>
          </a:xfrm>
          <a:prstGeom prst="ellipse">
            <a:avLst/>
          </a:prstGeom>
          <a:solidFill>
            <a:srgbClr val="B5482F"/>
          </a:solidFill>
          <a:ln/>
        </p:spPr>
      </p:sp>
      <p:sp>
        <p:nvSpPr>
          <p:cNvPr id="16" name="Text 13"/>
          <p:cNvSpPr/>
          <p:nvPr/>
        </p:nvSpPr>
        <p:spPr>
          <a:xfrm>
            <a:off x="5166360" y="4791456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clear, evidence-based path to production release once the flagged usability &amp; performance items are resolved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892040" y="598932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A9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of Experience — YuvaIntern · Cert. No. YI/2026/185143/412311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B2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6400800" cy="6400800"/>
          </a:xfrm>
          <a:prstGeom prst="ellipse">
            <a:avLst/>
          </a:prstGeom>
          <a:solidFill>
            <a:srgbClr val="B5482F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3657600"/>
            <a:ext cx="4572000" cy="4572000"/>
          </a:xfrm>
          <a:prstGeom prst="ellipse">
            <a:avLst/>
          </a:prstGeom>
          <a:solidFill>
            <a:srgbClr val="D9CFBA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2468880"/>
            <a:ext cx="12188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5632704" y="3520440"/>
            <a:ext cx="914400" cy="45720"/>
          </a:xfrm>
          <a:prstGeom prst="rect">
            <a:avLst/>
          </a:prstGeom>
          <a:solidFill>
            <a:srgbClr val="B5482F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37033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9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Prabhat Nath Goswami  ·  2410030811  ·  B.Tech CSE, 5th Semester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0" y="411480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8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  —  Internship at YuvaIntern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2026-09-09T09:49:05Z</dcterms:created>
  <dcterms:modified xsi:type="dcterms:W3CDTF">2026-09-09T09:49:05Z</dcterms:modified>
</cp:coreProperties>
</file>